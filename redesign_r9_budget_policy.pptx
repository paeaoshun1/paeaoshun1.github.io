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固定</c:v>
                </c:pt>
              </c:strCache>
            </c:strRef>
          </c:tx>
          <c:spPr>
            <a:solidFill>
              <a:srgbClr val="17375E"/>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令和9年度見込額</c:v>
                  </c:pt>
                </c:lvl>
              </c:multiLvlStrCache>
            </c:multiLvlStrRef>
          </c:cat>
          <c:val>
            <c:numRef>
              <c:f>Sheet1!$B$2:$B$2</c:f>
              <c:numCache>
                <c:formatCode>General</c:formatCode>
                <c:ptCount val="1"/>
                <c:pt idx="0">
                  <c:v>30310895</c:v>
                </c:pt>
              </c:numCache>
            </c:numRef>
          </c:val>
        </c:ser>
        <c:ser>
          <c:idx val="1"/>
          <c:order val="1"/>
          <c:tx>
            <c:strRef>
              <c:f>Sheet1!$C$1</c:f>
              <c:strCache>
                <c:ptCount val="1"/>
                <c:pt idx="0">
                  <c:v>人件費</c:v>
                </c:pt>
              </c:strCache>
            </c:strRef>
          </c:tx>
          <c:spPr>
            <a:solidFill>
              <a:srgbClr val="2E5F8A"/>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令和9年度見込額</c:v>
                  </c:pt>
                </c:lvl>
              </c:multiLvlStrCache>
            </c:multiLvlStrRef>
          </c:cat>
          <c:val>
            <c:numRef>
              <c:f>Sheet1!$C$2:$C$2</c:f>
              <c:numCache>
                <c:formatCode>General</c:formatCode>
                <c:ptCount val="1"/>
                <c:pt idx="0">
                  <c:v>21407066</c:v>
                </c:pt>
              </c:numCache>
            </c:numRef>
          </c:val>
        </c:ser>
        <c:ser>
          <c:idx val="2"/>
          <c:order val="2"/>
          <c:tx>
            <c:strRef>
              <c:f>Sheet1!$D$1</c:f>
              <c:strCache>
                <c:ptCount val="1"/>
                <c:pt idx="0">
                  <c:v>法定・債務負担</c:v>
                </c:pt>
              </c:strCache>
            </c:strRef>
          </c:tx>
          <c:spPr>
            <a:solidFill>
              <a:srgbClr val="4E7FA6"/>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令和9年度見込額</c:v>
                  </c:pt>
                </c:lvl>
              </c:multiLvlStrCache>
            </c:multiLvlStrRef>
          </c:cat>
          <c:val>
            <c:numRef>
              <c:f>Sheet1!$D$2:$D$2</c:f>
              <c:numCache>
                <c:formatCode>General</c:formatCode>
                <c:ptCount val="1"/>
                <c:pt idx="0">
                  <c:v>605482</c:v>
                </c:pt>
              </c:numCache>
            </c:numRef>
          </c:val>
        </c:ser>
        <c:ser>
          <c:idx val="3"/>
          <c:order val="3"/>
          <c:tx>
            <c:strRef>
              <c:f>Sheet1!$E$1</c:f>
              <c:strCache>
                <c:ptCount val="1"/>
                <c:pt idx="0">
                  <c:v>係数算定</c:v>
                </c:pt>
              </c:strCache>
            </c:strRef>
          </c:tx>
          <c:spPr>
            <a:solidFill>
              <a:srgbClr val="79A5C4"/>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令和9年度見込額</c:v>
                  </c:pt>
                </c:lvl>
              </c:multiLvlStrCache>
            </c:multiLvlStrRef>
          </c:cat>
          <c:val>
            <c:numRef>
              <c:f>Sheet1!$E$2:$E$2</c:f>
              <c:numCache>
                <c:formatCode>General</c:formatCode>
                <c:ptCount val="1"/>
                <c:pt idx="0">
                  <c:v>1233040</c:v>
                </c:pt>
              </c:numCache>
            </c:numRef>
          </c:val>
        </c:ser>
        <c:ser>
          <c:idx val="4"/>
          <c:order val="4"/>
          <c:tx>
            <c:strRef>
              <c:f>Sheet1!$F$1</c:f>
              <c:strCache>
                <c:ptCount val="1"/>
                <c:pt idx="0">
                  <c:v>員数単価</c:v>
                </c:pt>
              </c:strCache>
            </c:strRef>
          </c:tx>
          <c:spPr>
            <a:solidFill>
              <a:srgbClr val="A9C6DC"/>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令和9年度見込額</c:v>
                  </c:pt>
                </c:lvl>
              </c:multiLvlStrCache>
            </c:multiLvlStrRef>
          </c:cat>
          <c:val>
            <c:numRef>
              <c:f>Sheet1!$F$2:$F$2</c:f>
              <c:numCache>
                <c:formatCode>General</c:formatCode>
                <c:ptCount val="1"/>
                <c:pt idx="0">
                  <c:v>730362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84048" y="274320"/>
            <a:ext cx="4572000" cy="274320"/>
          </a:xfrm>
          <a:prstGeom prst="rect">
            <a:avLst/>
          </a:prstGeom>
          <a:noFill/>
          <a:ln/>
        </p:spPr>
        <p:txBody>
          <a:bodyPr wrap="square" lIns="0" tIns="0" rIns="0" bIns="0" rtlCol="0" anchor="ctr"/>
          <a:lstStyle/>
          <a:p>
            <a:pPr algn="l" indent="0" marL="0">
              <a:buNone/>
            </a:pPr>
            <a:r>
              <a:rPr lang="en-US" sz="1200" b="1" dirty="0">
                <a:solidFill>
                  <a:srgbClr val="526174"/>
                </a:solidFill>
                <a:latin typeface="BIZ UDPゴシック" pitchFamily="34" charset="0"/>
                <a:ea typeface="BIZ UDPゴシック" pitchFamily="34" charset="-122"/>
                <a:cs typeface="BIZ UDPゴシック" pitchFamily="34" charset="-120"/>
              </a:rPr>
              <a:t>令和9年度予算編成</a:t>
            </a:r>
            <a:endParaRPr lang="en-US" sz="1200" dirty="0"/>
          </a:p>
        </p:txBody>
      </p:sp>
      <p:sp>
        <p:nvSpPr>
          <p:cNvPr id="3" name="Text 1"/>
          <p:cNvSpPr/>
          <p:nvPr/>
        </p:nvSpPr>
        <p:spPr>
          <a:xfrm>
            <a:off x="384048" y="530352"/>
            <a:ext cx="6766560" cy="512064"/>
          </a:xfrm>
          <a:prstGeom prst="rect">
            <a:avLst/>
          </a:prstGeom>
          <a:noFill/>
          <a:ln/>
        </p:spPr>
        <p:txBody>
          <a:bodyPr wrap="square" lIns="0" tIns="0" rIns="0" bIns="0" rtlCol="0" anchor="ctr"/>
          <a:lstStyle/>
          <a:p>
            <a:pPr algn="l" indent="0" marL="0">
              <a:buNone/>
            </a:pPr>
            <a:r>
              <a:rPr lang="en-US" sz="2800" b="1" dirty="0">
                <a:solidFill>
                  <a:srgbClr val="17375E"/>
                </a:solidFill>
                <a:latin typeface="BIZ UDPゴシック" pitchFamily="34" charset="0"/>
                <a:ea typeface="BIZ UDPゴシック" pitchFamily="34" charset="-122"/>
                <a:cs typeface="BIZ UDPゴシック" pitchFamily="34" charset="-120"/>
              </a:rPr>
              <a:t>各局圧縮額への対応方針</a:t>
            </a:r>
            <a:endParaRPr lang="en-US" sz="2800" dirty="0"/>
          </a:p>
        </p:txBody>
      </p:sp>
      <p:sp>
        <p:nvSpPr>
          <p:cNvPr id="4" name="Text 2"/>
          <p:cNvSpPr/>
          <p:nvPr/>
        </p:nvSpPr>
        <p:spPr>
          <a:xfrm>
            <a:off x="7315200" y="566928"/>
            <a:ext cx="4489704" cy="420624"/>
          </a:xfrm>
          <a:prstGeom prst="roundRect">
            <a:avLst>
              <a:gd name="adj" fmla="val 13043"/>
            </a:avLst>
          </a:prstGeom>
          <a:solidFill>
            <a:srgbClr val="17375E"/>
          </a:solidFill>
          <a:ln/>
        </p:spPr>
        <p:txBody>
          <a:bodyPr wrap="square" rtlCol="0" anchor="ctr"/>
          <a:lstStyle/>
          <a:p>
            <a:pPr algn="ctr" indent="0" marL="0">
              <a:buNone/>
            </a:pPr>
            <a:r>
              <a:rPr lang="en-US" sz="1250" b="1" dirty="0">
                <a:solidFill>
                  <a:srgbClr val="FFFFFF"/>
                </a:solidFill>
                <a:latin typeface="BIZ UDPゴシック" pitchFamily="34" charset="0"/>
                <a:ea typeface="BIZ UDPゴシック" pitchFamily="34" charset="-122"/>
                <a:cs typeface="BIZ UDPゴシック" pitchFamily="34" charset="-120"/>
              </a:rPr>
              <a:t>市民生活への影響を抑え、まず内部から見直す</a:t>
            </a:r>
            <a:endParaRPr lang="en-US" sz="1250" dirty="0"/>
          </a:p>
        </p:txBody>
      </p:sp>
      <p:sp>
        <p:nvSpPr>
          <p:cNvPr id="5" name="Shape 3"/>
          <p:cNvSpPr/>
          <p:nvPr/>
        </p:nvSpPr>
        <p:spPr>
          <a:xfrm>
            <a:off x="384048" y="1170432"/>
            <a:ext cx="11423599" cy="987552"/>
          </a:xfrm>
          <a:prstGeom prst="roundRect">
            <a:avLst>
              <a:gd name="adj" fmla="val 4630"/>
            </a:avLst>
          </a:prstGeom>
          <a:solidFill>
            <a:srgbClr val="EAF2F8"/>
          </a:solidFill>
          <a:ln/>
        </p:spPr>
      </p:sp>
      <p:sp>
        <p:nvSpPr>
          <p:cNvPr id="6" name="Text 4"/>
          <p:cNvSpPr/>
          <p:nvPr/>
        </p:nvSpPr>
        <p:spPr>
          <a:xfrm>
            <a:off x="603504" y="1426464"/>
            <a:ext cx="457200" cy="457200"/>
          </a:xfrm>
          <a:prstGeom prst="ellipse">
            <a:avLst/>
          </a:prstGeom>
          <a:solidFill>
            <a:srgbClr val="17375E"/>
          </a:solidFill>
          <a:ln/>
        </p:spPr>
        <p:txBody>
          <a:bodyPr wrap="square" lIns="0" tIns="0" rIns="0" bIns="0" rtlCol="0" anchor="ctr"/>
          <a:lstStyle/>
          <a:p>
            <a:pPr algn="ctr" indent="0" marL="0">
              <a:buNone/>
            </a:pPr>
            <a:r>
              <a:rPr lang="en-US" sz="2000" b="1" dirty="0">
                <a:solidFill>
                  <a:srgbClr val="FFFFFF"/>
                </a:solidFill>
                <a:latin typeface="BIZ UDPゴシック" pitchFamily="34" charset="0"/>
                <a:ea typeface="BIZ UDPゴシック" pitchFamily="34" charset="-122"/>
                <a:cs typeface="BIZ UDPゴシック" pitchFamily="34" charset="-120"/>
              </a:rPr>
              <a:t>✓</a:t>
            </a:r>
            <a:endParaRPr lang="en-US" sz="2000" dirty="0"/>
          </a:p>
        </p:txBody>
      </p:sp>
      <p:sp>
        <p:nvSpPr>
          <p:cNvPr id="7" name="Text 5"/>
          <p:cNvSpPr/>
          <p:nvPr/>
        </p:nvSpPr>
        <p:spPr>
          <a:xfrm>
            <a:off x="1225296" y="1280160"/>
            <a:ext cx="5486400" cy="237744"/>
          </a:xfrm>
          <a:prstGeom prst="rect">
            <a:avLst/>
          </a:prstGeom>
          <a:noFill/>
          <a:ln/>
        </p:spPr>
        <p:txBody>
          <a:bodyPr wrap="square" lIns="0" tIns="0" rIns="0" bIns="0" rtlCol="0" anchor="ctr"/>
          <a:lstStyle/>
          <a:p>
            <a:pPr algn="l" indent="0" marL="0">
              <a:buNone/>
            </a:pPr>
            <a:r>
              <a:rPr lang="en-US" sz="1100" b="1" dirty="0">
                <a:solidFill>
                  <a:srgbClr val="526174"/>
                </a:solidFill>
                <a:latin typeface="BIZ UDPゴシック" pitchFamily="34" charset="0"/>
                <a:ea typeface="BIZ UDPゴシック" pitchFamily="34" charset="-122"/>
                <a:cs typeface="BIZ UDPゴシック" pitchFamily="34" charset="-120"/>
              </a:rPr>
              <a:t>総務局における見直し方針</a:t>
            </a:r>
            <a:endParaRPr lang="en-US" sz="1100" dirty="0"/>
          </a:p>
        </p:txBody>
      </p:sp>
      <p:sp>
        <p:nvSpPr>
          <p:cNvPr id="8" name="Text 6"/>
          <p:cNvSpPr/>
          <p:nvPr/>
        </p:nvSpPr>
        <p:spPr>
          <a:xfrm>
            <a:off x="1225296" y="1490472"/>
            <a:ext cx="10424160" cy="329184"/>
          </a:xfrm>
          <a:prstGeom prst="rect">
            <a:avLst/>
          </a:prstGeom>
          <a:noFill/>
          <a:ln/>
        </p:spPr>
        <p:txBody>
          <a:bodyPr wrap="square" lIns="0" tIns="0" rIns="0" bIns="0" rtlCol="0" anchor="ctr"/>
          <a:lstStyle/>
          <a:p>
            <a:pPr algn="l" indent="0" marL="0">
              <a:buNone/>
            </a:pPr>
            <a:r>
              <a:rPr lang="en-US" sz="1700" b="1" dirty="0">
                <a:solidFill>
                  <a:srgbClr val="17375E"/>
                </a:solidFill>
                <a:latin typeface="BIZ UDPゴシック" pitchFamily="34" charset="0"/>
                <a:ea typeface="BIZ UDPゴシック" pitchFamily="34" charset="-122"/>
                <a:cs typeface="BIZ UDPゴシック" pitchFamily="34" charset="-120"/>
              </a:rPr>
              <a:t>市民生活への影響を抑えるため、まず行政内部の事務経費を徹底して見直す</a:t>
            </a:r>
            <a:endParaRPr lang="en-US" sz="1700" dirty="0"/>
          </a:p>
        </p:txBody>
      </p:sp>
      <p:sp>
        <p:nvSpPr>
          <p:cNvPr id="9" name="Text 7"/>
          <p:cNvSpPr/>
          <p:nvPr/>
        </p:nvSpPr>
        <p:spPr>
          <a:xfrm>
            <a:off x="1225296" y="1828800"/>
            <a:ext cx="10424160" cy="310896"/>
          </a:xfrm>
          <a:prstGeom prst="rect">
            <a:avLst/>
          </a:prstGeom>
          <a:noFill/>
          <a:ln/>
        </p:spPr>
        <p:txBody>
          <a:bodyPr wrap="square" lIns="0" tIns="0" rIns="0" bIns="0" rtlCol="0" anchor="ctr"/>
          <a:lstStyle/>
          <a:p>
            <a:pPr algn="l" indent="0" marL="0">
              <a:lnSpc>
                <a:spcPts val="1150"/>
              </a:lnSpc>
              <a:buNone/>
            </a:pPr>
            <a:r>
              <a:rPr lang="en-US" sz="850" dirty="0">
                <a:solidFill>
                  <a:srgbClr val="526174"/>
                </a:solidFill>
                <a:latin typeface="BIZ UDPゴシック" pitchFamily="34" charset="0"/>
                <a:ea typeface="BIZ UDPゴシック" pitchFamily="34" charset="-122"/>
                <a:cs typeface="BIZ UDPゴシック" pitchFamily="34" charset="-120"/>
              </a:rPr>
              <a:t>原文：「まずは、市民生活に直接影響を及ぼさない行政内部の事務における経費等について、徹底した見直しを行う。」</a:t>
            </a:r>
            <a:endParaRPr lang="en-US" sz="850" dirty="0"/>
          </a:p>
          <a:p>
            <a:pPr algn="l" indent="0" marL="0">
              <a:lnSpc>
                <a:spcPts val="1150"/>
              </a:lnSpc>
              <a:buNone/>
            </a:pPr>
            <a:r>
              <a:rPr lang="en-US" sz="850" dirty="0">
                <a:solidFill>
                  <a:srgbClr val="526174"/>
                </a:solidFill>
                <a:latin typeface="BIZ UDPゴシック" pitchFamily="34" charset="0"/>
                <a:ea typeface="BIZ UDPゴシック" pitchFamily="34" charset="-122"/>
                <a:cs typeface="BIZ UDPゴシック" pitchFamily="34" charset="-120"/>
              </a:rPr>
              <a:t>　　　「内部管理事務経費については、最低限必要なものを除き、事務事業の計画的な執行等により節減する。」</a:t>
            </a:r>
            <a:endParaRPr lang="en-US" sz="850" dirty="0"/>
          </a:p>
        </p:txBody>
      </p:sp>
      <p:sp>
        <p:nvSpPr>
          <p:cNvPr id="10" name="Text 8"/>
          <p:cNvSpPr/>
          <p:nvPr/>
        </p:nvSpPr>
        <p:spPr>
          <a:xfrm>
            <a:off x="384048" y="2340864"/>
            <a:ext cx="4480560" cy="274320"/>
          </a:xfrm>
          <a:prstGeom prst="rect">
            <a:avLst/>
          </a:prstGeom>
          <a:noFill/>
          <a:ln/>
        </p:spPr>
        <p:txBody>
          <a:bodyPr wrap="square" lIns="0" tIns="0" rIns="0" bIns="0" rtlCol="0" anchor="ctr"/>
          <a:lstStyle/>
          <a:p>
            <a:pPr algn="l" indent="0" marL="0">
              <a:buNone/>
            </a:pPr>
            <a:r>
              <a:rPr lang="en-US" sz="1200" b="1" dirty="0">
                <a:solidFill>
                  <a:srgbClr val="526174"/>
                </a:solidFill>
                <a:latin typeface="BIZ UDPゴシック" pitchFamily="34" charset="0"/>
                <a:ea typeface="BIZ UDPゴシック" pitchFamily="34" charset="-122"/>
                <a:cs typeface="BIZ UDPゴシック" pitchFamily="34" charset="-120"/>
              </a:rPr>
              <a:t>令和9年度 一般財源見込額</a:t>
            </a:r>
            <a:endParaRPr lang="en-US" sz="1200" dirty="0"/>
          </a:p>
        </p:txBody>
      </p:sp>
      <p:sp>
        <p:nvSpPr>
          <p:cNvPr id="11" name="Text 9"/>
          <p:cNvSpPr/>
          <p:nvPr/>
        </p:nvSpPr>
        <p:spPr>
          <a:xfrm>
            <a:off x="384048" y="2596896"/>
            <a:ext cx="4480560" cy="566928"/>
          </a:xfrm>
          <a:prstGeom prst="rect">
            <a:avLst/>
          </a:prstGeom>
          <a:noFill/>
          <a:ln/>
        </p:spPr>
        <p:txBody>
          <a:bodyPr wrap="square" lIns="0" tIns="0" rIns="0" bIns="0" rtlCol="0" anchor="ctr"/>
          <a:lstStyle/>
          <a:p>
            <a:pPr algn="l" indent="0" marL="0">
              <a:buNone/>
            </a:pPr>
            <a:r>
              <a:rPr lang="en-US" sz="3700" b="1" dirty="0">
                <a:solidFill>
                  <a:srgbClr val="17375E"/>
                </a:solidFill>
                <a:latin typeface="BIZ UDPゴシック" pitchFamily="34" charset="0"/>
                <a:ea typeface="BIZ UDPゴシック" pitchFamily="34" charset="-122"/>
                <a:cs typeface="BIZ UDPゴシック" pitchFamily="34" charset="-120"/>
              </a:rPr>
              <a:t>54,457,581</a:t>
            </a:r>
            <a:pPr algn="l" indent="0" marL="0">
              <a:buNone/>
            </a:pPr>
            <a:r>
              <a:rPr lang="en-US" sz="1400" b="1" dirty="0">
                <a:solidFill>
                  <a:srgbClr val="526174"/>
                </a:solidFill>
                <a:latin typeface="BIZ UDPゴシック" pitchFamily="34" charset="0"/>
                <a:ea typeface="BIZ UDPゴシック" pitchFamily="34" charset="-122"/>
                <a:cs typeface="BIZ UDPゴシック" pitchFamily="34" charset="-120"/>
              </a:rPr>
              <a:t> 千円</a:t>
            </a:r>
            <a:endParaRPr lang="en-US" sz="3700" dirty="0"/>
          </a:p>
        </p:txBody>
      </p:sp>
      <p:sp>
        <p:nvSpPr>
          <p:cNvPr id="12" name="Shape 10"/>
          <p:cNvSpPr/>
          <p:nvPr/>
        </p:nvSpPr>
        <p:spPr>
          <a:xfrm>
            <a:off x="384048" y="3291840"/>
            <a:ext cx="4480560" cy="621792"/>
          </a:xfrm>
          <a:prstGeom prst="roundRect">
            <a:avLst>
              <a:gd name="adj" fmla="val 7353"/>
            </a:avLst>
          </a:prstGeom>
          <a:solidFill>
            <a:srgbClr val="FBF4E4"/>
          </a:solidFill>
          <a:ln w="9525">
            <a:solidFill>
              <a:srgbClr val="C9912B"/>
            </a:solidFill>
            <a:prstDash val="solid"/>
          </a:ln>
        </p:spPr>
      </p:sp>
      <p:sp>
        <p:nvSpPr>
          <p:cNvPr id="13" name="Text 11"/>
          <p:cNvSpPr/>
          <p:nvPr/>
        </p:nvSpPr>
        <p:spPr>
          <a:xfrm>
            <a:off x="566928" y="3291840"/>
            <a:ext cx="2286000" cy="621792"/>
          </a:xfrm>
          <a:prstGeom prst="rect">
            <a:avLst/>
          </a:prstGeom>
          <a:noFill/>
          <a:ln/>
        </p:spPr>
        <p:txBody>
          <a:bodyPr wrap="square" lIns="0" tIns="0" rIns="0" bIns="0" rtlCol="0" anchor="ctr"/>
          <a:lstStyle/>
          <a:p>
            <a:pPr algn="l" indent="0" marL="0">
              <a:buNone/>
            </a:pPr>
            <a:r>
              <a:rPr lang="en-US" sz="1100" b="1" dirty="0">
                <a:solidFill>
                  <a:srgbClr val="26364A"/>
                </a:solidFill>
                <a:latin typeface="BIZ UDPゴシック" pitchFamily="34" charset="0"/>
                <a:ea typeface="BIZ UDPゴシック" pitchFamily="34" charset="-122"/>
                <a:cs typeface="BIZ UDPゴシック" pitchFamily="34" charset="-120"/>
              </a:rPr>
              <a:t>圧縮対象経費（全体の3％）</a:t>
            </a:r>
            <a:endParaRPr lang="en-US" sz="1100" dirty="0"/>
          </a:p>
        </p:txBody>
      </p:sp>
      <p:sp>
        <p:nvSpPr>
          <p:cNvPr id="14" name="Text 12"/>
          <p:cNvSpPr/>
          <p:nvPr/>
        </p:nvSpPr>
        <p:spPr>
          <a:xfrm>
            <a:off x="2715768" y="3291840"/>
            <a:ext cx="1965960" cy="621792"/>
          </a:xfrm>
          <a:prstGeom prst="rect">
            <a:avLst/>
          </a:prstGeom>
          <a:noFill/>
          <a:ln/>
        </p:spPr>
        <p:txBody>
          <a:bodyPr wrap="square" lIns="0" tIns="0" rIns="0" bIns="0" rtlCol="0" anchor="ctr"/>
          <a:lstStyle/>
          <a:p>
            <a:pPr algn="r" indent="0" marL="0">
              <a:buNone/>
            </a:pPr>
            <a:r>
              <a:rPr lang="en-US" sz="1600" b="1" dirty="0">
                <a:solidFill>
                  <a:srgbClr val="C9912B"/>
                </a:solidFill>
                <a:latin typeface="BIZ UDPゴシック" pitchFamily="34" charset="0"/>
                <a:ea typeface="BIZ UDPゴシック" pitchFamily="34" charset="-122"/>
                <a:cs typeface="BIZ UDPゴシック" pitchFamily="34" charset="-120"/>
              </a:rPr>
              <a:t>1,963,402千円</a:t>
            </a:r>
            <a:endParaRPr lang="en-US" sz="1600" dirty="0"/>
          </a:p>
        </p:txBody>
      </p:sp>
      <p:sp>
        <p:nvSpPr>
          <p:cNvPr id="15" name="Text 13"/>
          <p:cNvSpPr/>
          <p:nvPr/>
        </p:nvSpPr>
        <p:spPr>
          <a:xfrm>
            <a:off x="384048" y="4096512"/>
            <a:ext cx="4480560" cy="237744"/>
          </a:xfrm>
          <a:prstGeom prst="rect">
            <a:avLst/>
          </a:prstGeom>
          <a:noFill/>
          <a:ln/>
        </p:spPr>
        <p:txBody>
          <a:bodyPr wrap="square" lIns="0" tIns="0" rIns="0" bIns="0" rtlCol="0" anchor="ctr"/>
          <a:lstStyle/>
          <a:p>
            <a:pPr algn="l" indent="0" marL="0">
              <a:buNone/>
            </a:pPr>
            <a:r>
              <a:rPr lang="en-US" sz="1050" b="1" dirty="0">
                <a:solidFill>
                  <a:srgbClr val="526174"/>
                </a:solidFill>
                <a:latin typeface="BIZ UDPゴシック" pitchFamily="34" charset="0"/>
                <a:ea typeface="BIZ UDPゴシック" pitchFamily="34" charset="-122"/>
                <a:cs typeface="BIZ UDPゴシック" pitchFamily="34" charset="-120"/>
              </a:rPr>
              <a:t>一般財源見込額の構成（単位：千円）</a:t>
            </a:r>
            <a:endParaRPr lang="en-US" sz="1050" dirty="0"/>
          </a:p>
        </p:txBody>
      </p:sp>
      <p:graphicFrame>
        <p:nvGraphicFramePr>
          <p:cNvPr id="16" name="Chart 0" descr=""/>
          <p:cNvGraphicFramePr/>
          <p:nvPr/>
        </p:nvGraphicFramePr>
        <p:xfrm>
          <a:off x="310896" y="4315968"/>
          <a:ext cx="4626864" cy="566928"/>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402336" y="5102352"/>
            <a:ext cx="137160" cy="137160"/>
          </a:xfrm>
          <a:prstGeom prst="rect">
            <a:avLst/>
          </a:prstGeom>
          <a:solidFill>
            <a:srgbClr val="17375E"/>
          </a:solidFill>
          <a:ln/>
        </p:spPr>
      </p:sp>
      <p:sp>
        <p:nvSpPr>
          <p:cNvPr id="18" name="Text 15"/>
          <p:cNvSpPr/>
          <p:nvPr/>
        </p:nvSpPr>
        <p:spPr>
          <a:xfrm>
            <a:off x="640080" y="5047488"/>
            <a:ext cx="2011680" cy="246888"/>
          </a:xfrm>
          <a:prstGeom prst="rect">
            <a:avLst/>
          </a:prstGeom>
          <a:noFill/>
          <a:ln/>
        </p:spPr>
        <p:txBody>
          <a:bodyPr wrap="square" lIns="0" tIns="0" rIns="0" bIns="0" rtlCol="0" anchor="ctr"/>
          <a:lstStyle/>
          <a:p>
            <a:pPr algn="l" indent="0" marL="0">
              <a:buNone/>
            </a:pPr>
            <a:r>
              <a:rPr lang="en-US" sz="1000" dirty="0">
                <a:solidFill>
                  <a:srgbClr val="26364A"/>
                </a:solidFill>
                <a:latin typeface="BIZ UDPゴシック" pitchFamily="34" charset="0"/>
                <a:ea typeface="BIZ UDPゴシック" pitchFamily="34" charset="-122"/>
                <a:cs typeface="BIZ UDPゴシック" pitchFamily="34" charset="-120"/>
              </a:rPr>
              <a:t>固定</a:t>
            </a:r>
            <a:endParaRPr lang="en-US" sz="1000" dirty="0"/>
          </a:p>
        </p:txBody>
      </p:sp>
      <p:sp>
        <p:nvSpPr>
          <p:cNvPr id="19" name="Text 16"/>
          <p:cNvSpPr/>
          <p:nvPr/>
        </p:nvSpPr>
        <p:spPr>
          <a:xfrm>
            <a:off x="2670048" y="5047488"/>
            <a:ext cx="2011680" cy="246888"/>
          </a:xfrm>
          <a:prstGeom prst="rect">
            <a:avLst/>
          </a:prstGeom>
          <a:noFill/>
          <a:ln/>
        </p:spPr>
        <p:txBody>
          <a:bodyPr wrap="square" lIns="0" tIns="0" rIns="0" bIns="0" rtlCol="0" anchor="ctr"/>
          <a:lstStyle/>
          <a:p>
            <a:pPr algn="r" indent="0" marL="0">
              <a:buNone/>
            </a:pPr>
            <a:r>
              <a:rPr lang="en-US" sz="1000" dirty="0">
                <a:solidFill>
                  <a:srgbClr val="26364A"/>
                </a:solidFill>
                <a:latin typeface="BIZ UDPゴシック" pitchFamily="34" charset="0"/>
                <a:ea typeface="BIZ UDPゴシック" pitchFamily="34" charset="-122"/>
                <a:cs typeface="BIZ UDPゴシック" pitchFamily="34" charset="-120"/>
              </a:rPr>
              <a:t>30,310,895</a:t>
            </a:r>
            <a:endParaRPr lang="en-US" sz="1000" dirty="0"/>
          </a:p>
        </p:txBody>
      </p:sp>
      <p:sp>
        <p:nvSpPr>
          <p:cNvPr id="20" name="Shape 17"/>
          <p:cNvSpPr/>
          <p:nvPr/>
        </p:nvSpPr>
        <p:spPr>
          <a:xfrm>
            <a:off x="402336" y="5367528"/>
            <a:ext cx="137160" cy="137160"/>
          </a:xfrm>
          <a:prstGeom prst="rect">
            <a:avLst/>
          </a:prstGeom>
          <a:solidFill>
            <a:srgbClr val="2E5F8A"/>
          </a:solidFill>
          <a:ln/>
        </p:spPr>
      </p:sp>
      <p:sp>
        <p:nvSpPr>
          <p:cNvPr id="21" name="Text 18"/>
          <p:cNvSpPr/>
          <p:nvPr/>
        </p:nvSpPr>
        <p:spPr>
          <a:xfrm>
            <a:off x="640080" y="5312664"/>
            <a:ext cx="2011680" cy="246888"/>
          </a:xfrm>
          <a:prstGeom prst="rect">
            <a:avLst/>
          </a:prstGeom>
          <a:noFill/>
          <a:ln/>
        </p:spPr>
        <p:txBody>
          <a:bodyPr wrap="square" lIns="0" tIns="0" rIns="0" bIns="0" rtlCol="0" anchor="ctr"/>
          <a:lstStyle/>
          <a:p>
            <a:pPr algn="l" indent="0" marL="0">
              <a:buNone/>
            </a:pPr>
            <a:r>
              <a:rPr lang="en-US" sz="1000" dirty="0">
                <a:solidFill>
                  <a:srgbClr val="26364A"/>
                </a:solidFill>
                <a:latin typeface="BIZ UDPゴシック" pitchFamily="34" charset="0"/>
                <a:ea typeface="BIZ UDPゴシック" pitchFamily="34" charset="-122"/>
                <a:cs typeface="BIZ UDPゴシック" pitchFamily="34" charset="-120"/>
              </a:rPr>
              <a:t>人件費</a:t>
            </a:r>
            <a:endParaRPr lang="en-US" sz="1000" dirty="0"/>
          </a:p>
        </p:txBody>
      </p:sp>
      <p:sp>
        <p:nvSpPr>
          <p:cNvPr id="22" name="Text 19"/>
          <p:cNvSpPr/>
          <p:nvPr/>
        </p:nvSpPr>
        <p:spPr>
          <a:xfrm>
            <a:off x="2670048" y="5312664"/>
            <a:ext cx="2011680" cy="246888"/>
          </a:xfrm>
          <a:prstGeom prst="rect">
            <a:avLst/>
          </a:prstGeom>
          <a:noFill/>
          <a:ln/>
        </p:spPr>
        <p:txBody>
          <a:bodyPr wrap="square" lIns="0" tIns="0" rIns="0" bIns="0" rtlCol="0" anchor="ctr"/>
          <a:lstStyle/>
          <a:p>
            <a:pPr algn="r" indent="0" marL="0">
              <a:buNone/>
            </a:pPr>
            <a:r>
              <a:rPr lang="en-US" sz="1000" dirty="0">
                <a:solidFill>
                  <a:srgbClr val="26364A"/>
                </a:solidFill>
                <a:latin typeface="BIZ UDPゴシック" pitchFamily="34" charset="0"/>
                <a:ea typeface="BIZ UDPゴシック" pitchFamily="34" charset="-122"/>
                <a:cs typeface="BIZ UDPゴシック" pitchFamily="34" charset="-120"/>
              </a:rPr>
              <a:t>21,407,066</a:t>
            </a:r>
            <a:endParaRPr lang="en-US" sz="1000" dirty="0"/>
          </a:p>
        </p:txBody>
      </p:sp>
      <p:sp>
        <p:nvSpPr>
          <p:cNvPr id="23" name="Shape 20"/>
          <p:cNvSpPr/>
          <p:nvPr/>
        </p:nvSpPr>
        <p:spPr>
          <a:xfrm>
            <a:off x="402336" y="5632704"/>
            <a:ext cx="137160" cy="137160"/>
          </a:xfrm>
          <a:prstGeom prst="rect">
            <a:avLst/>
          </a:prstGeom>
          <a:solidFill>
            <a:srgbClr val="4E7FA6"/>
          </a:solidFill>
          <a:ln/>
        </p:spPr>
      </p:sp>
      <p:sp>
        <p:nvSpPr>
          <p:cNvPr id="24" name="Text 21"/>
          <p:cNvSpPr/>
          <p:nvPr/>
        </p:nvSpPr>
        <p:spPr>
          <a:xfrm>
            <a:off x="640080" y="5577840"/>
            <a:ext cx="2011680" cy="246888"/>
          </a:xfrm>
          <a:prstGeom prst="rect">
            <a:avLst/>
          </a:prstGeom>
          <a:noFill/>
          <a:ln/>
        </p:spPr>
        <p:txBody>
          <a:bodyPr wrap="square" lIns="0" tIns="0" rIns="0" bIns="0" rtlCol="0" anchor="ctr"/>
          <a:lstStyle/>
          <a:p>
            <a:pPr algn="l" indent="0" marL="0">
              <a:buNone/>
            </a:pPr>
            <a:r>
              <a:rPr lang="en-US" sz="1000" dirty="0">
                <a:solidFill>
                  <a:srgbClr val="26364A"/>
                </a:solidFill>
                <a:latin typeface="BIZ UDPゴシック" pitchFamily="34" charset="0"/>
                <a:ea typeface="BIZ UDPゴシック" pitchFamily="34" charset="-122"/>
                <a:cs typeface="BIZ UDPゴシック" pitchFamily="34" charset="-120"/>
              </a:rPr>
              <a:t>法定・債務負担</a:t>
            </a:r>
            <a:endParaRPr lang="en-US" sz="1000" dirty="0"/>
          </a:p>
        </p:txBody>
      </p:sp>
      <p:sp>
        <p:nvSpPr>
          <p:cNvPr id="25" name="Text 22"/>
          <p:cNvSpPr/>
          <p:nvPr/>
        </p:nvSpPr>
        <p:spPr>
          <a:xfrm>
            <a:off x="2670048" y="5577840"/>
            <a:ext cx="2011680" cy="246888"/>
          </a:xfrm>
          <a:prstGeom prst="rect">
            <a:avLst/>
          </a:prstGeom>
          <a:noFill/>
          <a:ln/>
        </p:spPr>
        <p:txBody>
          <a:bodyPr wrap="square" lIns="0" tIns="0" rIns="0" bIns="0" rtlCol="0" anchor="ctr"/>
          <a:lstStyle/>
          <a:p>
            <a:pPr algn="r" indent="0" marL="0">
              <a:buNone/>
            </a:pPr>
            <a:r>
              <a:rPr lang="en-US" sz="1000" dirty="0">
                <a:solidFill>
                  <a:srgbClr val="26364A"/>
                </a:solidFill>
                <a:latin typeface="BIZ UDPゴシック" pitchFamily="34" charset="0"/>
                <a:ea typeface="BIZ UDPゴシック" pitchFamily="34" charset="-122"/>
                <a:cs typeface="BIZ UDPゴシック" pitchFamily="34" charset="-120"/>
              </a:rPr>
              <a:t>605,482</a:t>
            </a:r>
            <a:endParaRPr lang="en-US" sz="1000" dirty="0"/>
          </a:p>
        </p:txBody>
      </p:sp>
      <p:sp>
        <p:nvSpPr>
          <p:cNvPr id="26" name="Shape 23"/>
          <p:cNvSpPr/>
          <p:nvPr/>
        </p:nvSpPr>
        <p:spPr>
          <a:xfrm>
            <a:off x="402336" y="5897880"/>
            <a:ext cx="137160" cy="137160"/>
          </a:xfrm>
          <a:prstGeom prst="rect">
            <a:avLst/>
          </a:prstGeom>
          <a:solidFill>
            <a:srgbClr val="79A5C4"/>
          </a:solidFill>
          <a:ln/>
        </p:spPr>
      </p:sp>
      <p:sp>
        <p:nvSpPr>
          <p:cNvPr id="27" name="Text 24"/>
          <p:cNvSpPr/>
          <p:nvPr/>
        </p:nvSpPr>
        <p:spPr>
          <a:xfrm>
            <a:off x="640080" y="5843016"/>
            <a:ext cx="2011680" cy="246888"/>
          </a:xfrm>
          <a:prstGeom prst="rect">
            <a:avLst/>
          </a:prstGeom>
          <a:noFill/>
          <a:ln/>
        </p:spPr>
        <p:txBody>
          <a:bodyPr wrap="square" lIns="0" tIns="0" rIns="0" bIns="0" rtlCol="0" anchor="ctr"/>
          <a:lstStyle/>
          <a:p>
            <a:pPr algn="l" indent="0" marL="0">
              <a:buNone/>
            </a:pPr>
            <a:r>
              <a:rPr lang="en-US" sz="1000" dirty="0">
                <a:solidFill>
                  <a:srgbClr val="26364A"/>
                </a:solidFill>
                <a:latin typeface="BIZ UDPゴシック" pitchFamily="34" charset="0"/>
                <a:ea typeface="BIZ UDPゴシック" pitchFamily="34" charset="-122"/>
                <a:cs typeface="BIZ UDPゴシック" pitchFamily="34" charset="-120"/>
              </a:rPr>
              <a:t>係数算定</a:t>
            </a:r>
            <a:endParaRPr lang="en-US" sz="1000" dirty="0"/>
          </a:p>
        </p:txBody>
      </p:sp>
      <p:sp>
        <p:nvSpPr>
          <p:cNvPr id="28" name="Text 25"/>
          <p:cNvSpPr/>
          <p:nvPr/>
        </p:nvSpPr>
        <p:spPr>
          <a:xfrm>
            <a:off x="2670048" y="5843016"/>
            <a:ext cx="2011680" cy="246888"/>
          </a:xfrm>
          <a:prstGeom prst="rect">
            <a:avLst/>
          </a:prstGeom>
          <a:noFill/>
          <a:ln/>
        </p:spPr>
        <p:txBody>
          <a:bodyPr wrap="square" lIns="0" tIns="0" rIns="0" bIns="0" rtlCol="0" anchor="ctr"/>
          <a:lstStyle/>
          <a:p>
            <a:pPr algn="r" indent="0" marL="0">
              <a:buNone/>
            </a:pPr>
            <a:r>
              <a:rPr lang="en-US" sz="1000" dirty="0">
                <a:solidFill>
                  <a:srgbClr val="26364A"/>
                </a:solidFill>
                <a:latin typeface="BIZ UDPゴシック" pitchFamily="34" charset="0"/>
                <a:ea typeface="BIZ UDPゴシック" pitchFamily="34" charset="-122"/>
                <a:cs typeface="BIZ UDPゴシック" pitchFamily="34" charset="-120"/>
              </a:rPr>
              <a:t>1,233,040</a:t>
            </a:r>
            <a:endParaRPr lang="en-US" sz="1000" dirty="0"/>
          </a:p>
        </p:txBody>
      </p:sp>
      <p:sp>
        <p:nvSpPr>
          <p:cNvPr id="29" name="Shape 26"/>
          <p:cNvSpPr/>
          <p:nvPr/>
        </p:nvSpPr>
        <p:spPr>
          <a:xfrm>
            <a:off x="402336" y="6163056"/>
            <a:ext cx="137160" cy="137160"/>
          </a:xfrm>
          <a:prstGeom prst="rect">
            <a:avLst/>
          </a:prstGeom>
          <a:solidFill>
            <a:srgbClr val="A9C6DC"/>
          </a:solidFill>
          <a:ln/>
        </p:spPr>
      </p:sp>
      <p:sp>
        <p:nvSpPr>
          <p:cNvPr id="30" name="Text 27"/>
          <p:cNvSpPr/>
          <p:nvPr/>
        </p:nvSpPr>
        <p:spPr>
          <a:xfrm>
            <a:off x="640080" y="6108192"/>
            <a:ext cx="2011680" cy="246888"/>
          </a:xfrm>
          <a:prstGeom prst="rect">
            <a:avLst/>
          </a:prstGeom>
          <a:noFill/>
          <a:ln/>
        </p:spPr>
        <p:txBody>
          <a:bodyPr wrap="square" lIns="0" tIns="0" rIns="0" bIns="0" rtlCol="0" anchor="ctr"/>
          <a:lstStyle/>
          <a:p>
            <a:pPr algn="l" indent="0" marL="0">
              <a:buNone/>
            </a:pPr>
            <a:r>
              <a:rPr lang="en-US" sz="1000" dirty="0">
                <a:solidFill>
                  <a:srgbClr val="26364A"/>
                </a:solidFill>
                <a:latin typeface="BIZ UDPゴシック" pitchFamily="34" charset="0"/>
                <a:ea typeface="BIZ UDPゴシック" pitchFamily="34" charset="-122"/>
                <a:cs typeface="BIZ UDPゴシック" pitchFamily="34" charset="-120"/>
              </a:rPr>
              <a:t>員数単価</a:t>
            </a:r>
            <a:endParaRPr lang="en-US" sz="1000" dirty="0"/>
          </a:p>
        </p:txBody>
      </p:sp>
      <p:sp>
        <p:nvSpPr>
          <p:cNvPr id="31" name="Text 28"/>
          <p:cNvSpPr/>
          <p:nvPr/>
        </p:nvSpPr>
        <p:spPr>
          <a:xfrm>
            <a:off x="2670048" y="6108192"/>
            <a:ext cx="2011680" cy="246888"/>
          </a:xfrm>
          <a:prstGeom prst="rect">
            <a:avLst/>
          </a:prstGeom>
          <a:noFill/>
          <a:ln/>
        </p:spPr>
        <p:txBody>
          <a:bodyPr wrap="square" lIns="0" tIns="0" rIns="0" bIns="0" rtlCol="0" anchor="ctr"/>
          <a:lstStyle/>
          <a:p>
            <a:pPr algn="r" indent="0" marL="0">
              <a:buNone/>
            </a:pPr>
            <a:r>
              <a:rPr lang="en-US" sz="1000" dirty="0">
                <a:solidFill>
                  <a:srgbClr val="26364A"/>
                </a:solidFill>
                <a:latin typeface="BIZ UDPゴシック" pitchFamily="34" charset="0"/>
                <a:ea typeface="BIZ UDPゴシック" pitchFamily="34" charset="-122"/>
                <a:cs typeface="BIZ UDPゴシック" pitchFamily="34" charset="-120"/>
              </a:rPr>
              <a:t>730,362</a:t>
            </a:r>
            <a:endParaRPr lang="en-US" sz="1000" dirty="0"/>
          </a:p>
        </p:txBody>
      </p:sp>
      <p:sp>
        <p:nvSpPr>
          <p:cNvPr id="32" name="Shape 29"/>
          <p:cNvSpPr/>
          <p:nvPr/>
        </p:nvSpPr>
        <p:spPr>
          <a:xfrm>
            <a:off x="5138928" y="2340864"/>
            <a:ext cx="3236976" cy="4023360"/>
          </a:xfrm>
          <a:prstGeom prst="roundRect">
            <a:avLst>
              <a:gd name="adj" fmla="val 1412"/>
            </a:avLst>
          </a:prstGeom>
          <a:solidFill>
            <a:srgbClr val="F4F6F8"/>
          </a:solidFill>
          <a:ln/>
        </p:spPr>
      </p:sp>
      <p:sp>
        <p:nvSpPr>
          <p:cNvPr id="33" name="Text 30"/>
          <p:cNvSpPr/>
          <p:nvPr/>
        </p:nvSpPr>
        <p:spPr>
          <a:xfrm>
            <a:off x="5358384" y="2578608"/>
            <a:ext cx="475488" cy="475488"/>
          </a:xfrm>
          <a:prstGeom prst="roundRect">
            <a:avLst>
              <a:gd name="adj" fmla="val 7692"/>
            </a:avLst>
          </a:prstGeom>
          <a:solidFill>
            <a:srgbClr val="17375E"/>
          </a:solid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01</a:t>
            </a:r>
            <a:endParaRPr lang="en-US" sz="1700" dirty="0"/>
          </a:p>
        </p:txBody>
      </p:sp>
      <p:sp>
        <p:nvSpPr>
          <p:cNvPr id="34" name="Text 31"/>
          <p:cNvSpPr/>
          <p:nvPr/>
        </p:nvSpPr>
        <p:spPr>
          <a:xfrm>
            <a:off x="5961888" y="2578608"/>
            <a:ext cx="2231136" cy="475488"/>
          </a:xfrm>
          <a:prstGeom prst="rect">
            <a:avLst/>
          </a:prstGeom>
          <a:noFill/>
          <a:ln/>
        </p:spPr>
        <p:txBody>
          <a:bodyPr wrap="square" lIns="0" tIns="0" rIns="0" bIns="0" rtlCol="0" anchor="ctr"/>
          <a:lstStyle/>
          <a:p>
            <a:pPr algn="l" indent="0" marL="0">
              <a:buNone/>
            </a:pPr>
            <a:r>
              <a:rPr lang="en-US" sz="1500" b="1" dirty="0">
                <a:solidFill>
                  <a:srgbClr val="17375E"/>
                </a:solidFill>
                <a:latin typeface="BIZ UDPゴシック" pitchFamily="34" charset="0"/>
                <a:ea typeface="BIZ UDPゴシック" pitchFamily="34" charset="-122"/>
                <a:cs typeface="BIZ UDPゴシック" pitchFamily="34" charset="-120"/>
              </a:rPr>
              <a:t>内部管理事務の見直し</a:t>
            </a:r>
            <a:endParaRPr lang="en-US" sz="1500" dirty="0"/>
          </a:p>
        </p:txBody>
      </p:sp>
      <p:sp>
        <p:nvSpPr>
          <p:cNvPr id="35" name="Text 32"/>
          <p:cNvSpPr/>
          <p:nvPr/>
        </p:nvSpPr>
        <p:spPr>
          <a:xfrm>
            <a:off x="5376672" y="3310128"/>
            <a:ext cx="2779776" cy="274320"/>
          </a:xfrm>
          <a:prstGeom prst="rect">
            <a:avLst/>
          </a:prstGeom>
          <a:noFill/>
          <a:ln/>
        </p:spPr>
        <p:txBody>
          <a:bodyPr wrap="square" lIns="0" tIns="0" rIns="0" bIns="0" rtlCol="0" anchor="ctr"/>
          <a:lstStyle/>
          <a:p>
            <a:pPr algn="l" indent="0" marL="0">
              <a:buNone/>
            </a:pPr>
            <a:r>
              <a:rPr lang="en-US" sz="1250" b="1" dirty="0">
                <a:solidFill>
                  <a:srgbClr val="26364A"/>
                </a:solidFill>
                <a:latin typeface="BIZ UDPゴシック" pitchFamily="34" charset="0"/>
                <a:ea typeface="BIZ UDPゴシック" pitchFamily="34" charset="-122"/>
                <a:cs typeface="BIZ UDPゴシック" pitchFamily="34" charset="-120"/>
              </a:rPr>
              <a:t>ペーパーレスのさらなる推進</a:t>
            </a:r>
            <a:endParaRPr lang="en-US" sz="1250" dirty="0"/>
          </a:p>
        </p:txBody>
      </p:sp>
      <p:sp>
        <p:nvSpPr>
          <p:cNvPr id="36" name="Text 33"/>
          <p:cNvSpPr/>
          <p:nvPr/>
        </p:nvSpPr>
        <p:spPr>
          <a:xfrm>
            <a:off x="5376672" y="3621024"/>
            <a:ext cx="2761488" cy="566928"/>
          </a:xfrm>
          <a:prstGeom prst="rect">
            <a:avLst/>
          </a:prstGeom>
          <a:noFill/>
          <a:ln/>
        </p:spPr>
        <p:txBody>
          <a:bodyPr wrap="square" lIns="0" tIns="0" rIns="0" bIns="0" rtlCol="0" anchor="t"/>
          <a:lstStyle/>
          <a:p>
            <a:pPr algn="l" indent="0" marL="0">
              <a:lnSpc>
                <a:spcPts val="1500"/>
              </a:lnSpc>
              <a:buNone/>
            </a:pPr>
            <a:r>
              <a:rPr lang="en-US" sz="1050" dirty="0">
                <a:solidFill>
                  <a:srgbClr val="26364A"/>
                </a:solidFill>
                <a:latin typeface="BIZ UDPゴシック" pitchFamily="34" charset="0"/>
                <a:ea typeface="BIZ UDPゴシック" pitchFamily="34" charset="-122"/>
                <a:cs typeface="BIZ UDPゴシック" pitchFamily="34" charset="-120"/>
              </a:rPr>
              <a:t>新たなコミュニケーションツールを活用し、複写料やコピー用紙を節減</a:t>
            </a:r>
            <a:endParaRPr lang="en-US" sz="1050" dirty="0"/>
          </a:p>
        </p:txBody>
      </p:sp>
      <p:sp>
        <p:nvSpPr>
          <p:cNvPr id="37" name="Text 34"/>
          <p:cNvSpPr/>
          <p:nvPr/>
        </p:nvSpPr>
        <p:spPr>
          <a:xfrm>
            <a:off x="5376672" y="4224528"/>
            <a:ext cx="2761488" cy="237744"/>
          </a:xfrm>
          <a:prstGeom prst="rect">
            <a:avLst/>
          </a:prstGeom>
          <a:noFill/>
          <a:ln/>
        </p:spPr>
        <p:txBody>
          <a:bodyPr wrap="square" lIns="0" tIns="0" rIns="0" bIns="0" rtlCol="0" anchor="t"/>
          <a:lstStyle/>
          <a:p>
            <a:pPr algn="l" indent="0" marL="0">
              <a:buNone/>
            </a:pPr>
            <a:r>
              <a:rPr lang="en-US" sz="900" dirty="0">
                <a:solidFill>
                  <a:srgbClr val="526174"/>
                </a:solidFill>
                <a:latin typeface="BIZ UDPゴシック" pitchFamily="34" charset="0"/>
                <a:ea typeface="BIZ UDPゴシック" pitchFamily="34" charset="-122"/>
                <a:cs typeface="BIZ UDPゴシック" pitchFamily="34" charset="-120"/>
              </a:rPr>
              <a:t>令和8年度導入の新ツールを徹底活用</a:t>
            </a:r>
            <a:endParaRPr lang="en-US" sz="900" dirty="0"/>
          </a:p>
        </p:txBody>
      </p:sp>
      <p:sp>
        <p:nvSpPr>
          <p:cNvPr id="38" name="Shape 35"/>
          <p:cNvSpPr/>
          <p:nvPr/>
        </p:nvSpPr>
        <p:spPr>
          <a:xfrm>
            <a:off x="5376672" y="4681728"/>
            <a:ext cx="2761488" cy="0"/>
          </a:xfrm>
          <a:prstGeom prst="line">
            <a:avLst/>
          </a:prstGeom>
          <a:noFill/>
          <a:ln w="9525">
            <a:solidFill>
              <a:srgbClr val="D4DCE4"/>
            </a:solidFill>
            <a:prstDash val="solid"/>
          </a:ln>
        </p:spPr>
      </p:sp>
      <p:sp>
        <p:nvSpPr>
          <p:cNvPr id="39" name="Text 36"/>
          <p:cNvSpPr/>
          <p:nvPr/>
        </p:nvSpPr>
        <p:spPr>
          <a:xfrm>
            <a:off x="5376672" y="4828032"/>
            <a:ext cx="2779776" cy="274320"/>
          </a:xfrm>
          <a:prstGeom prst="rect">
            <a:avLst/>
          </a:prstGeom>
          <a:noFill/>
          <a:ln/>
        </p:spPr>
        <p:txBody>
          <a:bodyPr wrap="square" lIns="0" tIns="0" rIns="0" bIns="0" rtlCol="0" anchor="ctr"/>
          <a:lstStyle/>
          <a:p>
            <a:pPr algn="l" indent="0" marL="0">
              <a:buNone/>
            </a:pPr>
            <a:r>
              <a:rPr lang="en-US" sz="1250" b="1" dirty="0">
                <a:solidFill>
                  <a:srgbClr val="26364A"/>
                </a:solidFill>
                <a:latin typeface="BIZ UDPゴシック" pitchFamily="34" charset="0"/>
                <a:ea typeface="BIZ UDPゴシック" pitchFamily="34" charset="-122"/>
                <a:cs typeface="BIZ UDPゴシック" pitchFamily="34" charset="-120"/>
              </a:rPr>
              <a:t>積算方法の見直し</a:t>
            </a:r>
            <a:endParaRPr lang="en-US" sz="1250" dirty="0"/>
          </a:p>
        </p:txBody>
      </p:sp>
      <p:sp>
        <p:nvSpPr>
          <p:cNvPr id="40" name="Text 37"/>
          <p:cNvSpPr/>
          <p:nvPr/>
        </p:nvSpPr>
        <p:spPr>
          <a:xfrm>
            <a:off x="5376672" y="5138928"/>
            <a:ext cx="2761488" cy="566928"/>
          </a:xfrm>
          <a:prstGeom prst="rect">
            <a:avLst/>
          </a:prstGeom>
          <a:noFill/>
          <a:ln/>
        </p:spPr>
        <p:txBody>
          <a:bodyPr wrap="square" lIns="0" tIns="0" rIns="0" bIns="0" rtlCol="0" anchor="t"/>
          <a:lstStyle/>
          <a:p>
            <a:pPr algn="l" indent="0" marL="0">
              <a:lnSpc>
                <a:spcPts val="1500"/>
              </a:lnSpc>
              <a:buNone/>
            </a:pPr>
            <a:r>
              <a:rPr lang="en-US" sz="1050" dirty="0">
                <a:solidFill>
                  <a:srgbClr val="26364A"/>
                </a:solidFill>
                <a:latin typeface="BIZ UDPゴシック" pitchFamily="34" charset="0"/>
                <a:ea typeface="BIZ UDPゴシック" pitchFamily="34" charset="-122"/>
                <a:cs typeface="BIZ UDPゴシック" pitchFamily="34" charset="-120"/>
              </a:rPr>
              <a:t>大学の施設管理運営費などを、実態に即した積算へ見直し</a:t>
            </a:r>
            <a:endParaRPr lang="en-US" sz="1050" dirty="0"/>
          </a:p>
        </p:txBody>
      </p:sp>
      <p:sp>
        <p:nvSpPr>
          <p:cNvPr id="41" name="Text 38"/>
          <p:cNvSpPr/>
          <p:nvPr/>
        </p:nvSpPr>
        <p:spPr>
          <a:xfrm>
            <a:off x="5376672" y="5742432"/>
            <a:ext cx="2761488" cy="237744"/>
          </a:xfrm>
          <a:prstGeom prst="rect">
            <a:avLst/>
          </a:prstGeom>
          <a:noFill/>
          <a:ln/>
        </p:spPr>
        <p:txBody>
          <a:bodyPr wrap="square" lIns="0" tIns="0" rIns="0" bIns="0" rtlCol="0" anchor="t"/>
          <a:lstStyle/>
          <a:p>
            <a:pPr algn="l" indent="0" marL="0">
              <a:buNone/>
            </a:pPr>
            <a:r>
              <a:rPr lang="en-US" sz="900" dirty="0">
                <a:solidFill>
                  <a:srgbClr val="526174"/>
                </a:solidFill>
                <a:latin typeface="BIZ UDPゴシック" pitchFamily="34" charset="0"/>
                <a:ea typeface="BIZ UDPゴシック" pitchFamily="34" charset="-122"/>
                <a:cs typeface="BIZ UDPゴシック" pitchFamily="34" charset="-120"/>
              </a:rPr>
              <a:t>運営費交付金等の積算方法を再点検</a:t>
            </a:r>
            <a:endParaRPr lang="en-US" sz="900" dirty="0"/>
          </a:p>
        </p:txBody>
      </p:sp>
      <p:sp>
        <p:nvSpPr>
          <p:cNvPr id="42" name="Shape 39"/>
          <p:cNvSpPr/>
          <p:nvPr/>
        </p:nvSpPr>
        <p:spPr>
          <a:xfrm>
            <a:off x="8567928" y="2340864"/>
            <a:ext cx="3236976" cy="4023360"/>
          </a:xfrm>
          <a:prstGeom prst="roundRect">
            <a:avLst>
              <a:gd name="adj" fmla="val 1412"/>
            </a:avLst>
          </a:prstGeom>
          <a:solidFill>
            <a:srgbClr val="F4F6F8"/>
          </a:solidFill>
          <a:ln/>
        </p:spPr>
      </p:sp>
      <p:sp>
        <p:nvSpPr>
          <p:cNvPr id="43" name="Text 40"/>
          <p:cNvSpPr/>
          <p:nvPr/>
        </p:nvSpPr>
        <p:spPr>
          <a:xfrm>
            <a:off x="8787384" y="2578608"/>
            <a:ext cx="475488" cy="475488"/>
          </a:xfrm>
          <a:prstGeom prst="roundRect">
            <a:avLst>
              <a:gd name="adj" fmla="val 7692"/>
            </a:avLst>
          </a:prstGeom>
          <a:solidFill>
            <a:srgbClr val="17375E"/>
          </a:solidFill>
          <a:ln/>
        </p:spPr>
        <p:txBody>
          <a:bodyPr wrap="square" lIns="0" tIns="0" rIns="0" bIns="0" rtlCol="0" anchor="ctr"/>
          <a:lstStyle/>
          <a:p>
            <a:pPr algn="ctr" indent="0" marL="0">
              <a:buNone/>
            </a:pPr>
            <a:r>
              <a:rPr lang="en-US" sz="1700" b="1" dirty="0">
                <a:solidFill>
                  <a:srgbClr val="FFFFFF"/>
                </a:solidFill>
                <a:latin typeface="BIZ UDPゴシック" pitchFamily="34" charset="0"/>
                <a:ea typeface="BIZ UDPゴシック" pitchFamily="34" charset="-122"/>
                <a:cs typeface="BIZ UDPゴシック" pitchFamily="34" charset="-120"/>
              </a:rPr>
              <a:t>02</a:t>
            </a:r>
            <a:endParaRPr lang="en-US" sz="1700" dirty="0"/>
          </a:p>
        </p:txBody>
      </p:sp>
      <p:sp>
        <p:nvSpPr>
          <p:cNvPr id="44" name="Text 41"/>
          <p:cNvSpPr/>
          <p:nvPr/>
        </p:nvSpPr>
        <p:spPr>
          <a:xfrm>
            <a:off x="9390888" y="2578608"/>
            <a:ext cx="2231136" cy="475488"/>
          </a:xfrm>
          <a:prstGeom prst="rect">
            <a:avLst/>
          </a:prstGeom>
          <a:noFill/>
          <a:ln/>
        </p:spPr>
        <p:txBody>
          <a:bodyPr wrap="square" lIns="0" tIns="0" rIns="0" bIns="0" rtlCol="0" anchor="ctr"/>
          <a:lstStyle/>
          <a:p>
            <a:pPr algn="l" indent="0" marL="0">
              <a:buNone/>
            </a:pPr>
            <a:r>
              <a:rPr lang="en-US" sz="1500" b="1" dirty="0">
                <a:solidFill>
                  <a:srgbClr val="17375E"/>
                </a:solidFill>
                <a:latin typeface="BIZ UDPゴシック" pitchFamily="34" charset="0"/>
                <a:ea typeface="BIZ UDPゴシック" pitchFamily="34" charset="-122"/>
                <a:cs typeface="BIZ UDPゴシック" pitchFamily="34" charset="-120"/>
              </a:rPr>
              <a:t>歳入の確保</a:t>
            </a:r>
            <a:endParaRPr lang="en-US" sz="1500" dirty="0"/>
          </a:p>
        </p:txBody>
      </p:sp>
      <p:sp>
        <p:nvSpPr>
          <p:cNvPr id="45" name="Text 42"/>
          <p:cNvSpPr/>
          <p:nvPr/>
        </p:nvSpPr>
        <p:spPr>
          <a:xfrm>
            <a:off x="8805672" y="3310128"/>
            <a:ext cx="2779776" cy="274320"/>
          </a:xfrm>
          <a:prstGeom prst="rect">
            <a:avLst/>
          </a:prstGeom>
          <a:noFill/>
          <a:ln/>
        </p:spPr>
        <p:txBody>
          <a:bodyPr wrap="square" lIns="0" tIns="0" rIns="0" bIns="0" rtlCol="0" anchor="ctr"/>
          <a:lstStyle/>
          <a:p>
            <a:pPr algn="l" indent="0" marL="0">
              <a:buNone/>
            </a:pPr>
            <a:r>
              <a:rPr lang="en-US" sz="1250" b="1" dirty="0">
                <a:solidFill>
                  <a:srgbClr val="26364A"/>
                </a:solidFill>
                <a:latin typeface="BIZ UDPゴシック" pitchFamily="34" charset="0"/>
                <a:ea typeface="BIZ UDPゴシック" pitchFamily="34" charset="-122"/>
                <a:cs typeface="BIZ UDPゴシック" pitchFamily="34" charset="-120"/>
              </a:rPr>
              <a:t>国・県補助金の再確認</a:t>
            </a:r>
            <a:endParaRPr lang="en-US" sz="1250" dirty="0"/>
          </a:p>
        </p:txBody>
      </p:sp>
      <p:sp>
        <p:nvSpPr>
          <p:cNvPr id="46" name="Text 43"/>
          <p:cNvSpPr/>
          <p:nvPr/>
        </p:nvSpPr>
        <p:spPr>
          <a:xfrm>
            <a:off x="8805672" y="3621024"/>
            <a:ext cx="2761488" cy="566928"/>
          </a:xfrm>
          <a:prstGeom prst="rect">
            <a:avLst/>
          </a:prstGeom>
          <a:noFill/>
          <a:ln/>
        </p:spPr>
        <p:txBody>
          <a:bodyPr wrap="square" lIns="0" tIns="0" rIns="0" bIns="0" rtlCol="0" anchor="t"/>
          <a:lstStyle/>
          <a:p>
            <a:pPr algn="l" indent="0" marL="0">
              <a:lnSpc>
                <a:spcPts val="1500"/>
              </a:lnSpc>
              <a:buNone/>
            </a:pPr>
            <a:r>
              <a:rPr lang="en-US" sz="1050" dirty="0">
                <a:solidFill>
                  <a:srgbClr val="26364A"/>
                </a:solidFill>
                <a:latin typeface="BIZ UDPゴシック" pitchFamily="34" charset="0"/>
                <a:ea typeface="BIZ UDPゴシック" pitchFamily="34" charset="-122"/>
                <a:cs typeface="BIZ UDPゴシック" pitchFamily="34" charset="-120"/>
              </a:rPr>
              <a:t>制度改正や国の予算動向を把握し、補助金の計上漏れを防止</a:t>
            </a:r>
            <a:endParaRPr lang="en-US" sz="1050" dirty="0"/>
          </a:p>
        </p:txBody>
      </p:sp>
      <p:sp>
        <p:nvSpPr>
          <p:cNvPr id="47" name="Text 44"/>
          <p:cNvSpPr/>
          <p:nvPr/>
        </p:nvSpPr>
        <p:spPr>
          <a:xfrm>
            <a:off x="8805672" y="4224528"/>
            <a:ext cx="2761488" cy="237744"/>
          </a:xfrm>
          <a:prstGeom prst="rect">
            <a:avLst/>
          </a:prstGeom>
          <a:noFill/>
          <a:ln/>
        </p:spPr>
        <p:txBody>
          <a:bodyPr wrap="square" lIns="0" tIns="0" rIns="0" bIns="0" rtlCol="0" anchor="t"/>
          <a:lstStyle/>
          <a:p>
            <a:pPr algn="l" indent="0" marL="0">
              <a:buNone/>
            </a:pPr>
            <a:r>
              <a:rPr lang="en-US" sz="900" dirty="0">
                <a:solidFill>
                  <a:srgbClr val="526174"/>
                </a:solidFill>
                <a:latin typeface="BIZ UDPゴシック" pitchFamily="34" charset="0"/>
                <a:ea typeface="BIZ UDPゴシック" pitchFamily="34" charset="-122"/>
                <a:cs typeface="BIZ UDPゴシック" pitchFamily="34" charset="-120"/>
              </a:rPr>
              <a:t>少額のものも含めて漏れなく計上</a:t>
            </a:r>
            <a:endParaRPr lang="en-US" sz="900" dirty="0"/>
          </a:p>
        </p:txBody>
      </p:sp>
      <p:sp>
        <p:nvSpPr>
          <p:cNvPr id="48" name="Shape 45"/>
          <p:cNvSpPr/>
          <p:nvPr/>
        </p:nvSpPr>
        <p:spPr>
          <a:xfrm>
            <a:off x="8805672" y="4681728"/>
            <a:ext cx="2761488" cy="0"/>
          </a:xfrm>
          <a:prstGeom prst="line">
            <a:avLst/>
          </a:prstGeom>
          <a:noFill/>
          <a:ln w="9525">
            <a:solidFill>
              <a:srgbClr val="D4DCE4"/>
            </a:solidFill>
            <a:prstDash val="solid"/>
          </a:ln>
        </p:spPr>
      </p:sp>
      <p:sp>
        <p:nvSpPr>
          <p:cNvPr id="49" name="Text 46"/>
          <p:cNvSpPr/>
          <p:nvPr/>
        </p:nvSpPr>
        <p:spPr>
          <a:xfrm>
            <a:off x="8805672" y="4828032"/>
            <a:ext cx="2779776" cy="274320"/>
          </a:xfrm>
          <a:prstGeom prst="rect">
            <a:avLst/>
          </a:prstGeom>
          <a:noFill/>
          <a:ln/>
        </p:spPr>
        <p:txBody>
          <a:bodyPr wrap="square" lIns="0" tIns="0" rIns="0" bIns="0" rtlCol="0" anchor="ctr"/>
          <a:lstStyle/>
          <a:p>
            <a:pPr algn="l" indent="0" marL="0">
              <a:buNone/>
            </a:pPr>
            <a:r>
              <a:rPr lang="en-US" sz="1250" b="1" dirty="0">
                <a:solidFill>
                  <a:srgbClr val="26364A"/>
                </a:solidFill>
                <a:latin typeface="BIZ UDPゴシック" pitchFamily="34" charset="0"/>
                <a:ea typeface="BIZ UDPゴシック" pitchFamily="34" charset="-122"/>
                <a:cs typeface="BIZ UDPゴシック" pitchFamily="34" charset="-120"/>
              </a:rPr>
              <a:t>企業版ふるさと納税の活用</a:t>
            </a:r>
            <a:endParaRPr lang="en-US" sz="1250" dirty="0"/>
          </a:p>
        </p:txBody>
      </p:sp>
      <p:sp>
        <p:nvSpPr>
          <p:cNvPr id="50" name="Text 47"/>
          <p:cNvSpPr/>
          <p:nvPr/>
        </p:nvSpPr>
        <p:spPr>
          <a:xfrm>
            <a:off x="8805672" y="5138928"/>
            <a:ext cx="2761488" cy="566928"/>
          </a:xfrm>
          <a:prstGeom prst="rect">
            <a:avLst/>
          </a:prstGeom>
          <a:noFill/>
          <a:ln/>
        </p:spPr>
        <p:txBody>
          <a:bodyPr wrap="square" lIns="0" tIns="0" rIns="0" bIns="0" rtlCol="0" anchor="t"/>
          <a:lstStyle/>
          <a:p>
            <a:pPr algn="l" indent="0" marL="0">
              <a:lnSpc>
                <a:spcPts val="1500"/>
              </a:lnSpc>
              <a:buNone/>
            </a:pPr>
            <a:r>
              <a:rPr lang="en-US" sz="1050" dirty="0">
                <a:solidFill>
                  <a:srgbClr val="26364A"/>
                </a:solidFill>
                <a:latin typeface="BIZ UDPゴシック" pitchFamily="34" charset="0"/>
                <a:ea typeface="BIZ UDPゴシック" pitchFamily="34" charset="-122"/>
                <a:cs typeface="BIZ UDPゴシック" pitchFamily="34" charset="-120"/>
              </a:rPr>
              <a:t>マッチング事業を継続し、企業からの寄附拡大を推進</a:t>
            </a:r>
            <a:endParaRPr lang="en-US" sz="1050" dirty="0"/>
          </a:p>
        </p:txBody>
      </p:sp>
      <p:sp>
        <p:nvSpPr>
          <p:cNvPr id="51" name="Text 48"/>
          <p:cNvSpPr/>
          <p:nvPr/>
        </p:nvSpPr>
        <p:spPr>
          <a:xfrm>
            <a:off x="8805672" y="5742432"/>
            <a:ext cx="2761488" cy="237744"/>
          </a:xfrm>
          <a:prstGeom prst="rect">
            <a:avLst/>
          </a:prstGeom>
          <a:noFill/>
          <a:ln/>
        </p:spPr>
        <p:txBody>
          <a:bodyPr wrap="square" lIns="0" tIns="0" rIns="0" bIns="0" rtlCol="0" anchor="t"/>
          <a:lstStyle/>
          <a:p>
            <a:pPr algn="l" indent="0" marL="0">
              <a:buNone/>
            </a:pPr>
            <a:r>
              <a:rPr lang="en-US" sz="900" dirty="0">
                <a:solidFill>
                  <a:srgbClr val="526174"/>
                </a:solidFill>
                <a:latin typeface="BIZ UDPゴシック" pitchFamily="34" charset="0"/>
                <a:ea typeface="BIZ UDPゴシック" pitchFamily="34" charset="-122"/>
                <a:cs typeface="BIZ UDPゴシック" pitchFamily="34" charset="-120"/>
              </a:rPr>
              <a:t>令和8年度開始事業をR9年度も継続</a:t>
            </a:r>
            <a:endParaRPr lang="en-US" sz="900" dirty="0"/>
          </a:p>
        </p:txBody>
      </p:sp>
      <p:sp>
        <p:nvSpPr>
          <p:cNvPr id="52" name="Text 49"/>
          <p:cNvSpPr/>
          <p:nvPr/>
        </p:nvSpPr>
        <p:spPr>
          <a:xfrm>
            <a:off x="384048" y="6473952"/>
            <a:ext cx="11423599" cy="219456"/>
          </a:xfrm>
          <a:prstGeom prst="rect">
            <a:avLst/>
          </a:prstGeom>
          <a:noFill/>
          <a:ln/>
        </p:spPr>
        <p:txBody>
          <a:bodyPr wrap="square" lIns="0" tIns="0" rIns="0" bIns="0" rtlCol="0" anchor="ctr"/>
          <a:lstStyle/>
          <a:p>
            <a:pPr algn="l" indent="0" marL="0">
              <a:buNone/>
            </a:pPr>
            <a:r>
              <a:rPr lang="en-US" sz="850" dirty="0">
                <a:solidFill>
                  <a:srgbClr val="526174"/>
                </a:solidFill>
                <a:latin typeface="BIZ UDPゴシック" pitchFamily="34" charset="0"/>
                <a:ea typeface="BIZ UDPゴシック" pitchFamily="34" charset="-122"/>
                <a:cs typeface="BIZ UDPゴシック" pitchFamily="34" charset="-120"/>
              </a:rPr>
              <a:t>注：構成区分の数値および圧縮対象経費の比率は、原資料記載値に基づく。</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2026-08-25T01:27:15Z</dcterms:created>
  <dcterms:modified xsi:type="dcterms:W3CDTF">2026-08-25T01:27:15Z</dcterms:modified>
</cp:coreProperties>
</file>